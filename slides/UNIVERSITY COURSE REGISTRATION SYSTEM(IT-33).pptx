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6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9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58309" y="1885712"/>
            <a:ext cx="1311378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58309" y="2351484"/>
            <a:ext cx="11403211" cy="228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50"/>
              </a:lnSpc>
              <a:buNone/>
            </a:pPr>
            <a:r>
              <a:rPr lang="en-US" sz="89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University Course</a:t>
            </a:r>
            <a:endParaRPr lang="en-US" sz="8950" dirty="0"/>
          </a:p>
          <a:p>
            <a:pPr marL="0" indent="0" algn="l">
              <a:lnSpc>
                <a:spcPts val="8950"/>
              </a:lnSpc>
              <a:buNone/>
            </a:pPr>
            <a:r>
              <a:rPr lang="en-US" sz="8950" i="1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Registration System</a:t>
            </a:r>
            <a:endParaRPr lang="en-US" sz="8950" dirty="0"/>
          </a:p>
        </p:txBody>
      </p:sp>
      <p:sp>
        <p:nvSpPr>
          <p:cNvPr id="6" name="Text 3"/>
          <p:cNvSpPr/>
          <p:nvPr/>
        </p:nvSpPr>
        <p:spPr>
          <a:xfrm>
            <a:off x="758309" y="4957167"/>
            <a:ext cx="1311378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8309" y="5450086"/>
            <a:ext cx="13113782" cy="249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Programming Project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09" y="5943005"/>
            <a:ext cx="2297430" cy="595789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3967" y="5943005"/>
            <a:ext cx="2391881" cy="595789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547" y="5943005"/>
            <a:ext cx="1637467" cy="5957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E77338-64D4-908E-67E3-B83A32B12378}"/>
              </a:ext>
            </a:extLst>
          </p:cNvPr>
          <p:cNvSpPr txBox="1"/>
          <p:nvPr/>
        </p:nvSpPr>
        <p:spPr>
          <a:xfrm>
            <a:off x="5034986" y="6180881"/>
            <a:ext cx="320087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39CF0-35AC-1E3A-8CE2-1C1BF8831F77}"/>
              </a:ext>
            </a:extLst>
          </p:cNvPr>
          <p:cNvSpPr txBox="1"/>
          <p:nvPr/>
        </p:nvSpPr>
        <p:spPr>
          <a:xfrm>
            <a:off x="5213612" y="6056233"/>
            <a:ext cx="227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00FFD-BF4B-81DC-F727-02BF990D5B4A}"/>
              </a:ext>
            </a:extLst>
          </p:cNvPr>
          <p:cNvSpPr txBox="1"/>
          <p:nvPr/>
        </p:nvSpPr>
        <p:spPr>
          <a:xfrm>
            <a:off x="7251270" y="6041411"/>
            <a:ext cx="17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A0356-C653-ACFD-2B57-4DD1D63035D8}"/>
              </a:ext>
            </a:extLst>
          </p:cNvPr>
          <p:cNvSpPr txBox="1"/>
          <p:nvPr/>
        </p:nvSpPr>
        <p:spPr>
          <a:xfrm>
            <a:off x="2721083" y="5996215"/>
            <a:ext cx="16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5657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737" y="2805589"/>
            <a:ext cx="902018" cy="142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54737" y="3054668"/>
            <a:ext cx="4540210" cy="453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5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754737" y="3869174"/>
            <a:ext cx="6350079" cy="1111329"/>
          </a:xfrm>
          <a:prstGeom prst="roundRect">
            <a:avLst>
              <a:gd name="adj" fmla="val 9874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877" y="3869174"/>
            <a:ext cx="91440" cy="1111329"/>
          </a:xfrm>
          <a:prstGeom prst="roundRect">
            <a:avLst>
              <a:gd name="adj" fmla="val 10000"/>
            </a:avLst>
          </a:prstGeom>
          <a:solidFill>
            <a:srgbClr val="614B3C"/>
          </a:solidFill>
          <a:ln/>
        </p:spPr>
      </p:sp>
      <p:sp>
        <p:nvSpPr>
          <p:cNvPr id="7" name="Text 4"/>
          <p:cNvSpPr/>
          <p:nvPr/>
        </p:nvSpPr>
        <p:spPr>
          <a:xfrm>
            <a:off x="1018699" y="4064556"/>
            <a:ext cx="227004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Time-Consuming Process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8699" y="4428887"/>
            <a:ext cx="5890736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registration workflows consume significant administrative time and resources, creating bottlenecks across departments.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54737" y="5117783"/>
            <a:ext cx="6350079" cy="1111329"/>
          </a:xfrm>
          <a:prstGeom prst="roundRect">
            <a:avLst>
              <a:gd name="adj" fmla="val 9874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877" y="5117783"/>
            <a:ext cx="91440" cy="1111329"/>
          </a:xfrm>
          <a:prstGeom prst="roundRect">
            <a:avLst>
              <a:gd name="adj" fmla="val 10000"/>
            </a:avLst>
          </a:prstGeom>
          <a:solidFill>
            <a:srgbClr val="614B3C"/>
          </a:solidFill>
          <a:ln/>
        </p:spPr>
      </p:sp>
      <p:sp>
        <p:nvSpPr>
          <p:cNvPr id="11" name="Text 8"/>
          <p:cNvSpPr/>
          <p:nvPr/>
        </p:nvSpPr>
        <p:spPr>
          <a:xfrm>
            <a:off x="1018699" y="5313164"/>
            <a:ext cx="227004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Human Error Risk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18699" y="5677495"/>
            <a:ext cx="5890736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automated validation, data entry mistakes lead to inconsistencies in student and course records.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54737" y="6366391"/>
            <a:ext cx="6350079" cy="1111329"/>
          </a:xfrm>
          <a:prstGeom prst="roundRect">
            <a:avLst>
              <a:gd name="adj" fmla="val 9874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877" y="6366391"/>
            <a:ext cx="91440" cy="1111329"/>
          </a:xfrm>
          <a:prstGeom prst="roundRect">
            <a:avLst>
              <a:gd name="adj" fmla="val 10000"/>
            </a:avLst>
          </a:prstGeom>
          <a:solidFill>
            <a:srgbClr val="614B3C"/>
          </a:solidFill>
          <a:ln/>
        </p:spPr>
      </p:sp>
      <p:sp>
        <p:nvSpPr>
          <p:cNvPr id="15" name="Text 12"/>
          <p:cNvSpPr/>
          <p:nvPr/>
        </p:nvSpPr>
        <p:spPr>
          <a:xfrm>
            <a:off x="1018699" y="6561772"/>
            <a:ext cx="227004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Validation System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18699" y="6926104"/>
            <a:ext cx="5890736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Absence of structured input checks allows invalid or duplicate data to enter the system unchecked.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533203" y="3869174"/>
            <a:ext cx="3106341" cy="1467564"/>
          </a:xfrm>
          <a:prstGeom prst="roundRect">
            <a:avLst>
              <a:gd name="adj" fmla="val 7477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10343" y="3869174"/>
            <a:ext cx="91440" cy="1467564"/>
          </a:xfrm>
          <a:prstGeom prst="roundRect">
            <a:avLst>
              <a:gd name="adj" fmla="val 10000"/>
            </a:avLst>
          </a:prstGeom>
          <a:solidFill>
            <a:srgbClr val="614B3C"/>
          </a:solidFill>
          <a:ln/>
        </p:spPr>
      </p:sp>
      <p:sp>
        <p:nvSpPr>
          <p:cNvPr id="19" name="Text 16"/>
          <p:cNvSpPr/>
          <p:nvPr/>
        </p:nvSpPr>
        <p:spPr>
          <a:xfrm>
            <a:off x="7797165" y="4064556"/>
            <a:ext cx="227004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 Management Difficulty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7797165" y="4428887"/>
            <a:ext cx="264699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Tracking student–course relationships manually is error-prone and difficult to scale as enrollment grows.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776823" y="3869174"/>
            <a:ext cx="3106460" cy="1467564"/>
          </a:xfrm>
          <a:prstGeom prst="roundRect">
            <a:avLst>
              <a:gd name="adj" fmla="val 7477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53963" y="3869174"/>
            <a:ext cx="91440" cy="1467564"/>
          </a:xfrm>
          <a:prstGeom prst="roundRect">
            <a:avLst>
              <a:gd name="adj" fmla="val 10000"/>
            </a:avLst>
          </a:prstGeom>
          <a:solidFill>
            <a:srgbClr val="614B3C"/>
          </a:solidFill>
          <a:ln/>
        </p:spPr>
      </p:sp>
      <p:sp>
        <p:nvSpPr>
          <p:cNvPr id="23" name="Text 20"/>
          <p:cNvSpPr/>
          <p:nvPr/>
        </p:nvSpPr>
        <p:spPr>
          <a:xfrm>
            <a:off x="11040785" y="4064556"/>
            <a:ext cx="2270046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Over-Enrollment Risk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1040785" y="4428887"/>
            <a:ext cx="2647117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capacity enforcement, courses can exceed maximum student limits, disrupting academic planning.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91515"/>
            <a:ext cx="490418" cy="17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GOALS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58309" y="990481"/>
            <a:ext cx="5131356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58309" y="1766768"/>
            <a:ext cx="438626" cy="438626"/>
          </a:xfrm>
          <a:prstGeom prst="roundRect">
            <a:avLst>
              <a:gd name="adj" fmla="val 2085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3734" y="1832193"/>
            <a:ext cx="3077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2314" y="1864162"/>
            <a:ext cx="257317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Automate Course Registration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2314" y="2225993"/>
            <a:ext cx="7013377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manual steps by building a fully automated registration flow driven by a menu interface.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309" y="3002875"/>
            <a:ext cx="438626" cy="438626"/>
          </a:xfrm>
          <a:prstGeom prst="roundRect">
            <a:avLst>
              <a:gd name="adj" fmla="val 2085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3734" y="3068300"/>
            <a:ext cx="3077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72314" y="3100268"/>
            <a:ext cx="256567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Reduce Manual Workload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372314" y="3462099"/>
            <a:ext cx="7013377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administrative effort away from repetitive data tasks toward higher-value academic activities.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58309" y="4238982"/>
            <a:ext cx="438626" cy="438626"/>
          </a:xfrm>
          <a:prstGeom prst="roundRect">
            <a:avLst>
              <a:gd name="adj" fmla="val 2085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3734" y="4304407"/>
            <a:ext cx="3077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372314" y="4336375"/>
            <a:ext cx="256567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Ensure Proper Validation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2314" y="4698206"/>
            <a:ext cx="7013377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input rules at every stage to guarantee data integrity and prevent invalid entries.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309" y="5475089"/>
            <a:ext cx="438626" cy="438626"/>
          </a:xfrm>
          <a:prstGeom prst="roundRect">
            <a:avLst>
              <a:gd name="adj" fmla="val 2085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3734" y="5540514"/>
            <a:ext cx="3077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372314" y="5572482"/>
            <a:ext cx="256567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Maintain Structured Data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372314" y="5934313"/>
            <a:ext cx="7013377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Organise student, course, and enrollment records in a coherent, easily queryable object model.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58309" y="6711196"/>
            <a:ext cx="438626" cy="438626"/>
          </a:xfrm>
          <a:prstGeom prst="roundRect">
            <a:avLst>
              <a:gd name="adj" fmla="val 2085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3734" y="6776621"/>
            <a:ext cx="307777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372314" y="6808589"/>
            <a:ext cx="2565678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Build a Scalable System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372314" y="7170420"/>
            <a:ext cx="7013377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with extensibility in mind so future features — GUI, database, web — can be added without restructuring.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84052"/>
            <a:ext cx="573524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58309" y="1308378"/>
            <a:ext cx="6050994" cy="541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2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Overview &amp; Core Features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758309" y="2338745"/>
            <a:ext cx="2708196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About the Application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309" y="2805113"/>
            <a:ext cx="630578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console-based Java application with a menu-driven interface, built entirely on Object-Oriented Programming principles. It handles students, courses, and enrollments in a clean, modular structure.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309" y="3717250"/>
            <a:ext cx="3055144" cy="1585317"/>
          </a:xfrm>
          <a:prstGeom prst="roundRect">
            <a:avLst>
              <a:gd name="adj" fmla="val 577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669" y="3930610"/>
            <a:ext cx="2628424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Console-Based Java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71669" y="4396978"/>
            <a:ext cx="2628424" cy="46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entirely via terminal — no GUI dependency required.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008953" y="3717250"/>
            <a:ext cx="3055144" cy="1585317"/>
          </a:xfrm>
          <a:prstGeom prst="roundRect">
            <a:avLst>
              <a:gd name="adj" fmla="val 577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22313" y="3930610"/>
            <a:ext cx="2628424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Menu-Driven UI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222313" y="4396978"/>
            <a:ext cx="2628424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Numbered options guide users through all system operations.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58309" y="5498068"/>
            <a:ext cx="6305788" cy="1123831"/>
          </a:xfrm>
          <a:prstGeom prst="roundRect">
            <a:avLst>
              <a:gd name="adj" fmla="val 814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669" y="5711428"/>
            <a:ext cx="2708196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OOP Architecture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1669" y="6177796"/>
            <a:ext cx="5879068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built on Java classes, inheritance, and encapsulation.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73923" y="2338745"/>
            <a:ext cx="2708196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Key Features</a:t>
            </a:r>
            <a:endParaRPr lang="en-US" sz="2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3923" y="2829520"/>
            <a:ext cx="514469" cy="51446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32708" y="2829520"/>
            <a:ext cx="2271951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Add Student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8332708" y="3295888"/>
            <a:ext cx="2271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Register new students with validated ID and name fields.</a:t>
            </a:r>
            <a:endParaRPr lang="en-US" sz="16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8975" y="2829520"/>
            <a:ext cx="514469" cy="51446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607760" y="2829520"/>
            <a:ext cx="2271951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Create Course</a:t>
            </a:r>
            <a:endParaRPr lang="en-US" sz="2100" dirty="0"/>
          </a:p>
        </p:txBody>
      </p:sp>
      <p:sp>
        <p:nvSpPr>
          <p:cNvPr id="21" name="Text 17"/>
          <p:cNvSpPr/>
          <p:nvPr/>
        </p:nvSpPr>
        <p:spPr>
          <a:xfrm>
            <a:off x="11607760" y="3295888"/>
            <a:ext cx="2271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new courses with code, title, and enrollment capacity.</a:t>
            </a:r>
            <a:endParaRPr lang="en-US" sz="16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3923" y="4379119"/>
            <a:ext cx="514469" cy="51446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32708" y="4379119"/>
            <a:ext cx="2271951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Enroll Student</a:t>
            </a:r>
            <a:endParaRPr lang="en-US" sz="2100" dirty="0"/>
          </a:p>
        </p:txBody>
      </p:sp>
      <p:sp>
        <p:nvSpPr>
          <p:cNvPr id="24" name="Text 19"/>
          <p:cNvSpPr/>
          <p:nvPr/>
        </p:nvSpPr>
        <p:spPr>
          <a:xfrm>
            <a:off x="8332708" y="4845487"/>
            <a:ext cx="2271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 a student to a course with over-enrollment prevention.</a:t>
            </a:r>
            <a:endParaRPr lang="en-US" sz="16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48975" y="4379119"/>
            <a:ext cx="514469" cy="51446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607760" y="4379119"/>
            <a:ext cx="2271951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View Students &amp; Courses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11607760" y="4845487"/>
            <a:ext cx="2271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all stored records in a formatted console output.</a:t>
            </a:r>
            <a:endParaRPr lang="en-US" sz="16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73923" y="5928717"/>
            <a:ext cx="514469" cy="5144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32708" y="5928717"/>
            <a:ext cx="2271951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Input Validation</a:t>
            </a:r>
            <a:endParaRPr lang="en-US" sz="2100" dirty="0"/>
          </a:p>
        </p:txBody>
      </p:sp>
      <p:sp>
        <p:nvSpPr>
          <p:cNvPr id="30" name="Text 23"/>
          <p:cNvSpPr/>
          <p:nvPr/>
        </p:nvSpPr>
        <p:spPr>
          <a:xfrm>
            <a:off x="8332708" y="6395085"/>
            <a:ext cx="22719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entry point enforces rules to catch and reject bad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66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910007"/>
            <a:ext cx="1750457" cy="143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 CONCEPTS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58309" y="3160752"/>
            <a:ext cx="4561284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5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OOP Concepts Used</a:t>
            </a:r>
            <a:endParaRPr lang="en-US" sz="3550" dirty="0"/>
          </a:p>
        </p:txBody>
      </p:sp>
      <p:sp>
        <p:nvSpPr>
          <p:cNvPr id="5" name="Shape 2"/>
          <p:cNvSpPr/>
          <p:nvPr/>
        </p:nvSpPr>
        <p:spPr>
          <a:xfrm>
            <a:off x="758309" y="3824764"/>
            <a:ext cx="4278868" cy="1877020"/>
          </a:xfrm>
          <a:prstGeom prst="roundRect">
            <a:avLst>
              <a:gd name="adj" fmla="val 487"/>
            </a:avLst>
          </a:prstGeom>
          <a:solidFill>
            <a:srgbClr val="614B3C"/>
          </a:solidFill>
          <a:ln w="7620">
            <a:solidFill>
              <a:srgbClr val="614B3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9165" y="4005620"/>
            <a:ext cx="519946" cy="519946"/>
          </a:xfrm>
          <a:prstGeom prst="roundRect">
            <a:avLst>
              <a:gd name="adj" fmla="val 17584683"/>
            </a:avLst>
          </a:prstGeom>
          <a:solidFill>
            <a:srgbClr val="614B3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159" y="4148614"/>
            <a:ext cx="233958" cy="23395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165" y="4664154"/>
            <a:ext cx="22806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Abstraction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39165" y="4975384"/>
            <a:ext cx="391715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class defines the abstract blueprint — exposing only essential attributes while hiding internal complexity from the caller.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175766" y="3824764"/>
            <a:ext cx="4278868" cy="1877020"/>
          </a:xfrm>
          <a:prstGeom prst="roundRect">
            <a:avLst>
              <a:gd name="adj" fmla="val 487"/>
            </a:avLst>
          </a:prstGeom>
          <a:solidFill>
            <a:srgbClr val="614B3C"/>
          </a:solidFill>
          <a:ln w="7620">
            <a:solidFill>
              <a:srgbClr val="614B3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56622" y="4005620"/>
            <a:ext cx="519946" cy="519946"/>
          </a:xfrm>
          <a:prstGeom prst="roundRect">
            <a:avLst>
              <a:gd name="adj" fmla="val 17584683"/>
            </a:avLst>
          </a:prstGeom>
          <a:solidFill>
            <a:srgbClr val="614B3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9616" y="4148614"/>
            <a:ext cx="233958" cy="2339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56622" y="4664154"/>
            <a:ext cx="22806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Inheritance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5356622" y="4975384"/>
            <a:ext cx="391715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</a:t>
            </a: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extend </a:t>
            </a: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reusing shared properties and enabling specialised behaviour per type.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593223" y="3824764"/>
            <a:ext cx="4278868" cy="1877020"/>
          </a:xfrm>
          <a:prstGeom prst="roundRect">
            <a:avLst>
              <a:gd name="adj" fmla="val 487"/>
            </a:avLst>
          </a:prstGeom>
          <a:solidFill>
            <a:srgbClr val="614B3C"/>
          </a:solidFill>
          <a:ln w="7620">
            <a:solidFill>
              <a:srgbClr val="614B3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774079" y="4005620"/>
            <a:ext cx="519946" cy="519946"/>
          </a:xfrm>
          <a:prstGeom prst="roundRect">
            <a:avLst>
              <a:gd name="adj" fmla="val 17584683"/>
            </a:avLst>
          </a:prstGeom>
          <a:solidFill>
            <a:srgbClr val="614B3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7073" y="4148614"/>
            <a:ext cx="233958" cy="2339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774079" y="4664154"/>
            <a:ext cx="22806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Polymorphism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9774079" y="4975384"/>
            <a:ext cx="3917156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overridden </a:t>
            </a: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display()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method behaves differently in each subclass, demonstrating runtime polymorphism cleanly.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58309" y="5840373"/>
            <a:ext cx="6487597" cy="1697712"/>
          </a:xfrm>
          <a:prstGeom prst="roundRect">
            <a:avLst>
              <a:gd name="adj" fmla="val 539"/>
            </a:avLst>
          </a:prstGeom>
          <a:solidFill>
            <a:srgbClr val="614B3C"/>
          </a:solidFill>
          <a:ln w="7620">
            <a:solidFill>
              <a:srgbClr val="614B3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39165" y="6021229"/>
            <a:ext cx="519946" cy="519946"/>
          </a:xfrm>
          <a:prstGeom prst="roundRect">
            <a:avLst>
              <a:gd name="adj" fmla="val 17584683"/>
            </a:avLst>
          </a:prstGeom>
          <a:solidFill>
            <a:srgbClr val="614B3C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2159" y="6164223"/>
            <a:ext cx="233958" cy="23395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39165" y="6679763"/>
            <a:ext cx="22806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Encapsulation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939165" y="6990993"/>
            <a:ext cx="6125885" cy="35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data fields are kept private inside their respective classes, accessed only through controlled getter and setter methods.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7384494" y="5840373"/>
            <a:ext cx="6487597" cy="1697712"/>
          </a:xfrm>
          <a:prstGeom prst="roundRect">
            <a:avLst>
              <a:gd name="adj" fmla="val 539"/>
            </a:avLst>
          </a:prstGeom>
          <a:solidFill>
            <a:srgbClr val="614B3C"/>
          </a:solidFill>
          <a:ln w="7620">
            <a:solidFill>
              <a:srgbClr val="614B3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565350" y="6021229"/>
            <a:ext cx="519946" cy="519946"/>
          </a:xfrm>
          <a:prstGeom prst="roundRect">
            <a:avLst>
              <a:gd name="adj" fmla="val 17584683"/>
            </a:avLst>
          </a:prstGeom>
          <a:solidFill>
            <a:srgbClr val="614B3C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08344" y="6164223"/>
            <a:ext cx="233958" cy="23395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65350" y="6679763"/>
            <a:ext cx="2280642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Exception Handling</a:t>
            </a:r>
            <a:endParaRPr lang="en-US" sz="1750" dirty="0"/>
          </a:p>
        </p:txBody>
      </p:sp>
      <p:sp>
        <p:nvSpPr>
          <p:cNvPr id="29" name="Text 21"/>
          <p:cNvSpPr/>
          <p:nvPr/>
        </p:nvSpPr>
        <p:spPr>
          <a:xfrm>
            <a:off x="7565350" y="6990993"/>
            <a:ext cx="6125885" cy="366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50" dirty="0">
                <a:solidFill>
                  <a:srgbClr val="FFFFFF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r>
              <a:rPr lang="en-US" sz="13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blocks wrap all user inputs, catching invalid data gracefully and keeping the system running without crashes.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45106"/>
            <a:ext cx="925235" cy="130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8309" y="1073229"/>
            <a:ext cx="5416748" cy="427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3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System Architecture &amp; Class Structure</a:t>
            </a:r>
            <a:endParaRPr lang="en-US" sz="3350" dirty="0"/>
          </a:p>
        </p:txBody>
      </p:sp>
      <p:sp>
        <p:nvSpPr>
          <p:cNvPr id="4" name="Text 2"/>
          <p:cNvSpPr/>
          <p:nvPr/>
        </p:nvSpPr>
        <p:spPr>
          <a:xfrm>
            <a:off x="758309" y="1805464"/>
            <a:ext cx="213800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MVC-Inspired Design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309" y="2141101"/>
            <a:ext cx="6358652" cy="32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follows a clean separation of concerns, loosely modelled on the Model–View–Controller pattern for maintainability and extensibility.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58309" y="2605088"/>
            <a:ext cx="6358652" cy="1487567"/>
          </a:xfrm>
          <a:prstGeom prst="roundRect">
            <a:avLst>
              <a:gd name="adj" fmla="val 615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169" y="2627948"/>
            <a:ext cx="6312932" cy="487442"/>
          </a:xfrm>
          <a:prstGeom prst="rect">
            <a:avLst/>
          </a:prstGeom>
          <a:solidFill>
            <a:srgbClr val="614B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5715" y="2745938"/>
            <a:ext cx="243721" cy="2437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3570" y="3237190"/>
            <a:ext cx="213800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Model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43570" y="3572828"/>
            <a:ext cx="5988129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Classes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2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5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hold all domain data and business logic.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58309" y="4214455"/>
            <a:ext cx="6358652" cy="1479947"/>
          </a:xfrm>
          <a:prstGeom prst="roundRect">
            <a:avLst>
              <a:gd name="adj" fmla="val 618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1169" y="4237315"/>
            <a:ext cx="6312932" cy="487442"/>
          </a:xfrm>
          <a:prstGeom prst="rect">
            <a:avLst/>
          </a:prstGeom>
          <a:solidFill>
            <a:srgbClr val="614B3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5715" y="4355306"/>
            <a:ext cx="243721" cy="2437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43570" y="4846558"/>
            <a:ext cx="213800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Controller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943570" y="5182195"/>
            <a:ext cx="5988129" cy="32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RegistrationManager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coordinates operations between classes — adding, enrolling, and retrieving records.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58309" y="5816203"/>
            <a:ext cx="6358652" cy="1479947"/>
          </a:xfrm>
          <a:prstGeom prst="roundRect">
            <a:avLst>
              <a:gd name="adj" fmla="val 618"/>
            </a:avLst>
          </a:prstGeom>
          <a:solidFill>
            <a:srgbClr val="FFFFF9"/>
          </a:solidFill>
          <a:ln w="22860">
            <a:solidFill>
              <a:srgbClr val="614B3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1169" y="5839063"/>
            <a:ext cx="6312932" cy="487442"/>
          </a:xfrm>
          <a:prstGeom prst="rect">
            <a:avLst/>
          </a:prstGeom>
          <a:solidFill>
            <a:srgbClr val="614B3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15715" y="5957054"/>
            <a:ext cx="243721" cy="2437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3570" y="6448306"/>
            <a:ext cx="213800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View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943570" y="6783943"/>
            <a:ext cx="5988129" cy="32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b="1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class</a:t>
            </a:r>
            <a:r>
              <a:rPr lang="en-US" sz="12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renders the console menu and routes user selections to the appropriate controller methods.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521059" y="1805464"/>
            <a:ext cx="213800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Class Hierarchy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8792766" y="2156341"/>
            <a:ext cx="635794" cy="538639"/>
          </a:xfrm>
          <a:prstGeom prst="roundRect">
            <a:avLst>
              <a:gd name="adj" fmla="val 1698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6363" y="2311360"/>
            <a:ext cx="228481" cy="2284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90961" y="2318742"/>
            <a:ext cx="1514713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RegistrationManager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9509760" y="2685455"/>
            <a:ext cx="4288750" cy="11430"/>
          </a:xfrm>
          <a:prstGeom prst="roundRect">
            <a:avLst>
              <a:gd name="adj" fmla="val 80000"/>
            </a:avLst>
          </a:prstGeom>
          <a:solidFill>
            <a:srgbClr val="614B3C"/>
          </a:solidFill>
          <a:ln/>
        </p:spPr>
      </p:sp>
      <p:sp>
        <p:nvSpPr>
          <p:cNvPr id="26" name="Shape 20"/>
          <p:cNvSpPr/>
          <p:nvPr/>
        </p:nvSpPr>
        <p:spPr>
          <a:xfrm>
            <a:off x="8474750" y="2776180"/>
            <a:ext cx="1271707" cy="538639"/>
          </a:xfrm>
          <a:prstGeom prst="roundRect">
            <a:avLst>
              <a:gd name="adj" fmla="val 1698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6363" y="2931200"/>
            <a:ext cx="228481" cy="2284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08858" y="2938582"/>
            <a:ext cx="828675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Enrollment</a:t>
            </a:r>
            <a:endParaRPr lang="en-US" sz="1650" dirty="0"/>
          </a:p>
        </p:txBody>
      </p:sp>
      <p:sp>
        <p:nvSpPr>
          <p:cNvPr id="29" name="Shape 22"/>
          <p:cNvSpPr/>
          <p:nvPr/>
        </p:nvSpPr>
        <p:spPr>
          <a:xfrm>
            <a:off x="9827657" y="3305294"/>
            <a:ext cx="3970853" cy="11430"/>
          </a:xfrm>
          <a:prstGeom prst="roundRect">
            <a:avLst>
              <a:gd name="adj" fmla="val 80000"/>
            </a:avLst>
          </a:prstGeom>
          <a:solidFill>
            <a:srgbClr val="614B3C"/>
          </a:solidFill>
          <a:ln/>
        </p:spPr>
      </p:sp>
      <p:sp>
        <p:nvSpPr>
          <p:cNvPr id="30" name="Shape 23"/>
          <p:cNvSpPr/>
          <p:nvPr/>
        </p:nvSpPr>
        <p:spPr>
          <a:xfrm>
            <a:off x="8156853" y="3396020"/>
            <a:ext cx="1907500" cy="538639"/>
          </a:xfrm>
          <a:prstGeom prst="roundRect">
            <a:avLst>
              <a:gd name="adj" fmla="val 1698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6363" y="3551039"/>
            <a:ext cx="228481" cy="22848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26754" y="3558421"/>
            <a:ext cx="496491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Course</a:t>
            </a:r>
            <a:endParaRPr lang="en-US" sz="1650" dirty="0"/>
          </a:p>
        </p:txBody>
      </p:sp>
      <p:sp>
        <p:nvSpPr>
          <p:cNvPr id="33" name="Shape 25"/>
          <p:cNvSpPr/>
          <p:nvPr/>
        </p:nvSpPr>
        <p:spPr>
          <a:xfrm>
            <a:off x="10145554" y="3925133"/>
            <a:ext cx="3652957" cy="11430"/>
          </a:xfrm>
          <a:prstGeom prst="roundRect">
            <a:avLst>
              <a:gd name="adj" fmla="val 80000"/>
            </a:avLst>
          </a:prstGeom>
          <a:solidFill>
            <a:srgbClr val="614B3C"/>
          </a:solidFill>
          <a:ln/>
        </p:spPr>
      </p:sp>
      <p:sp>
        <p:nvSpPr>
          <p:cNvPr id="34" name="Shape 26"/>
          <p:cNvSpPr/>
          <p:nvPr/>
        </p:nvSpPr>
        <p:spPr>
          <a:xfrm>
            <a:off x="7838956" y="4015859"/>
            <a:ext cx="2543413" cy="538639"/>
          </a:xfrm>
          <a:prstGeom prst="roundRect">
            <a:avLst>
              <a:gd name="adj" fmla="val 1698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6363" y="4170878"/>
            <a:ext cx="228481" cy="22848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544770" y="4178260"/>
            <a:ext cx="1658779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Student </a:t>
            </a:r>
            <a:r>
              <a:rPr lang="en-US" sz="1650" i="1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(extends User)</a:t>
            </a:r>
            <a:endParaRPr lang="en-US" sz="1650" dirty="0"/>
          </a:p>
        </p:txBody>
      </p:sp>
      <p:sp>
        <p:nvSpPr>
          <p:cNvPr id="37" name="Shape 28"/>
          <p:cNvSpPr/>
          <p:nvPr/>
        </p:nvSpPr>
        <p:spPr>
          <a:xfrm>
            <a:off x="10463570" y="4544973"/>
            <a:ext cx="3334941" cy="11430"/>
          </a:xfrm>
          <a:prstGeom prst="roundRect">
            <a:avLst>
              <a:gd name="adj" fmla="val 80000"/>
            </a:avLst>
          </a:prstGeom>
          <a:solidFill>
            <a:srgbClr val="614B3C"/>
          </a:solidFill>
          <a:ln/>
        </p:spPr>
      </p:sp>
      <p:sp>
        <p:nvSpPr>
          <p:cNvPr id="38" name="Shape 29"/>
          <p:cNvSpPr/>
          <p:nvPr/>
        </p:nvSpPr>
        <p:spPr>
          <a:xfrm>
            <a:off x="7521059" y="4635698"/>
            <a:ext cx="3179326" cy="538639"/>
          </a:xfrm>
          <a:prstGeom prst="roundRect">
            <a:avLst>
              <a:gd name="adj" fmla="val 1698"/>
            </a:avLst>
          </a:prstGeom>
          <a:solidFill>
            <a:srgbClr val="614B3C"/>
          </a:solidFill>
          <a:ln w="7620">
            <a:solidFill>
              <a:srgbClr val="7A6455"/>
            </a:solidFill>
            <a:prstDash val="solid"/>
          </a:ln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6482" y="4790718"/>
            <a:ext cx="228481" cy="228481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862786" y="4798100"/>
            <a:ext cx="1238369" cy="213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 </a:t>
            </a:r>
            <a:r>
              <a:rPr lang="en-US" sz="1650" i="1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(Base Class)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89610"/>
            <a:ext cx="1281470" cy="170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58309" y="988576"/>
            <a:ext cx="5131356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0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Workflow &amp; Error Handling</a:t>
            </a:r>
            <a:endParaRPr lang="en-US" sz="4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66" y="1764863"/>
            <a:ext cx="6864548" cy="29601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1599" y="4179001"/>
            <a:ext cx="1639192" cy="163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Perform Operation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601599" y="3493778"/>
            <a:ext cx="1639192" cy="16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Validate Input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601599" y="2815477"/>
            <a:ext cx="1639192" cy="16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Take Input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601599" y="2130254"/>
            <a:ext cx="1639192" cy="163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Select Option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58309" y="4922401"/>
            <a:ext cx="7627382" cy="42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user interaction follows this strict five-step pipeline, ensuring no operation is executed without passing the validation gate first.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58309" y="5545812"/>
            <a:ext cx="2425541" cy="2052518"/>
          </a:xfrm>
          <a:prstGeom prst="roundRect">
            <a:avLst>
              <a:gd name="adj" fmla="val 446"/>
            </a:avLst>
          </a:prstGeom>
          <a:solidFill>
            <a:srgbClr val="AF9683"/>
          </a:solidFill>
          <a:ln w="7620">
            <a:solidFill>
              <a:srgbClr val="957C6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960834" y="5748338"/>
            <a:ext cx="202049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Invalid Input Handling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960834" y="6110168"/>
            <a:ext cx="2020491" cy="1065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Non-numeric entries, empty fields, and out-of-range values are caught before reaching business logic.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3359229" y="5545812"/>
            <a:ext cx="2425541" cy="2052518"/>
          </a:xfrm>
          <a:prstGeom prst="roundRect">
            <a:avLst>
              <a:gd name="adj" fmla="val 446"/>
            </a:avLst>
          </a:prstGeom>
          <a:solidFill>
            <a:srgbClr val="AF9683"/>
          </a:solidFill>
          <a:ln w="7620">
            <a:solidFill>
              <a:srgbClr val="957C6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561755" y="5748338"/>
            <a:ext cx="202049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Crash Prevention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561755" y="6110168"/>
            <a:ext cx="2020491" cy="1285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try-catch</a:t>
            </a: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blocks around all I/O operations prevent unhandled exceptions from terminating the program.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960150" y="5545812"/>
            <a:ext cx="2425541" cy="2052518"/>
          </a:xfrm>
          <a:prstGeom prst="roundRect">
            <a:avLst>
              <a:gd name="adj" fmla="val 446"/>
            </a:avLst>
          </a:prstGeom>
          <a:solidFill>
            <a:srgbClr val="AF9683"/>
          </a:solidFill>
          <a:ln w="7620">
            <a:solidFill>
              <a:srgbClr val="957C6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62675" y="5748338"/>
            <a:ext cx="202049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Smooth Execution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162675" y="6110168"/>
            <a:ext cx="2020491" cy="1065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are prompted to re-enter data on failure, keeping the session active and feedback clear.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259" y="476012"/>
            <a:ext cx="837962" cy="12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 DIAGRAM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6259" y="691158"/>
            <a:ext cx="4107537" cy="410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Class Diagram Overview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59" y="1270516"/>
            <a:ext cx="13537883" cy="6357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3291" y="6080284"/>
            <a:ext cx="3126568" cy="31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User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66151" y="6498617"/>
            <a:ext cx="3643709" cy="255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userId, name; display()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212849" y="4916252"/>
            <a:ext cx="3126568" cy="31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Student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0212849" y="5334586"/>
            <a:ext cx="3551297" cy="51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extends User; courseList; display()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383085" y="3972321"/>
            <a:ext cx="3126568" cy="31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Course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865944" y="4390654"/>
            <a:ext cx="3643709" cy="51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courseId, title, capacity; getDetails()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10212849" y="2984452"/>
            <a:ext cx="3126568" cy="31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Enrollment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10212849" y="3402785"/>
            <a:ext cx="3551297" cy="255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student, course, date; enroll()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383291" y="1992044"/>
            <a:ext cx="3126568" cy="31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50"/>
              </a:lnSpc>
              <a:buNone/>
            </a:pPr>
            <a:r>
              <a:rPr lang="en-US" sz="2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RegistrationManager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866151" y="2410378"/>
            <a:ext cx="3643709" cy="510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8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addStudent(), createCourse(), enrollStudent(), viewAll()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46259" y="7754422"/>
            <a:ext cx="13537883" cy="31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class hierarchy begins with </a:t>
            </a:r>
            <a:r>
              <a:rPr lang="en-US" sz="12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the base, extended by </a:t>
            </a:r>
            <a:r>
              <a:rPr lang="en-US" sz="12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</a:t>
            </a: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r>
              <a:rPr lang="en-US" sz="12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Course</a:t>
            </a: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Enrollment</a:t>
            </a: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model the academic data layer, while </a:t>
            </a:r>
            <a:r>
              <a:rPr lang="en-US" sz="1200" dirty="0">
                <a:solidFill>
                  <a:srgbClr val="84796D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RegistrationManager</a:t>
            </a:r>
            <a:r>
              <a:rPr lang="en-US" sz="120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orchestrates all system operations — forming a clean, layered OOP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942737"/>
            <a:ext cx="1371005" cy="199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3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OUTPUT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58309" y="1293495"/>
            <a:ext cx="6899077" cy="570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Console Menu &amp; Sample Interaction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58309" y="1950244"/>
            <a:ext cx="2850713" cy="285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Main Menu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309" y="2560201"/>
            <a:ext cx="13113782" cy="2675930"/>
          </a:xfrm>
          <a:prstGeom prst="roundRect">
            <a:avLst>
              <a:gd name="adj" fmla="val 342"/>
            </a:avLst>
          </a:prstGeom>
          <a:solidFill>
            <a:srgbClr val="F2F2EC"/>
          </a:solidFill>
          <a:ln/>
        </p:spPr>
      </p:sp>
      <p:sp>
        <p:nvSpPr>
          <p:cNvPr id="6" name="Shape 4"/>
          <p:cNvSpPr/>
          <p:nvPr/>
        </p:nvSpPr>
        <p:spPr>
          <a:xfrm>
            <a:off x="747593" y="2560201"/>
            <a:ext cx="13135213" cy="2675930"/>
          </a:xfrm>
          <a:prstGeom prst="roundRect">
            <a:avLst>
              <a:gd name="adj" fmla="val 1215"/>
            </a:avLst>
          </a:prstGeom>
          <a:solidFill>
            <a:srgbClr val="F2F2EC"/>
          </a:solidFill>
          <a:ln/>
        </p:spPr>
      </p:sp>
      <p:sp>
        <p:nvSpPr>
          <p:cNvPr id="7" name="Text 5"/>
          <p:cNvSpPr/>
          <p:nvPr/>
        </p:nvSpPr>
        <p:spPr>
          <a:xfrm>
            <a:off x="1018342" y="2776776"/>
            <a:ext cx="12593717" cy="224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Course Registration System =====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Student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Create Course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Enroll Student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View All Students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View All Courses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Exit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</a:t>
            </a:r>
            <a:endParaRPr lang="en-US" sz="17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8479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_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5561052"/>
            <a:ext cx="2850713" cy="285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Sample — Adding a Student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58309" y="6171009"/>
            <a:ext cx="13113782" cy="1180743"/>
          </a:xfrm>
          <a:prstGeom prst="roundRect">
            <a:avLst>
              <a:gd name="adj" fmla="val 774"/>
            </a:avLst>
          </a:prstGeom>
          <a:solidFill>
            <a:srgbClr val="F2F2EC"/>
          </a:solidFill>
          <a:ln/>
        </p:spPr>
      </p:sp>
      <p:sp>
        <p:nvSpPr>
          <p:cNvPr id="10" name="Shape 8"/>
          <p:cNvSpPr/>
          <p:nvPr/>
        </p:nvSpPr>
        <p:spPr>
          <a:xfrm>
            <a:off x="747593" y="6171009"/>
            <a:ext cx="13135213" cy="1180743"/>
          </a:xfrm>
          <a:prstGeom prst="roundRect">
            <a:avLst>
              <a:gd name="adj" fmla="val 2752"/>
            </a:avLst>
          </a:prstGeom>
          <a:solidFill>
            <a:srgbClr val="F2F2EC"/>
          </a:solidFill>
          <a:ln/>
        </p:spPr>
      </p:sp>
      <p:sp>
        <p:nvSpPr>
          <p:cNvPr id="11" name="Text 9"/>
          <p:cNvSpPr/>
          <p:nvPr/>
        </p:nvSpPr>
        <p:spPr>
          <a:xfrm>
            <a:off x="1018342" y="6387584"/>
            <a:ext cx="12593717" cy="747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005CC5"/>
                </a:solidFill>
                <a:highlight>
                  <a:srgbClr val="F2F2E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 Student ID: S101
Enter Student Name: Sarbik Chakraborty
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88523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2528173"/>
            <a:ext cx="584121" cy="117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50" dirty="0">
                <a:solidFill>
                  <a:srgbClr val="AF968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754023" y="2732842"/>
            <a:ext cx="3969068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10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Conclusion &amp; Future Scope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54023" y="3392091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443C35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What Was Achieved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577" y="3689747"/>
            <a:ext cx="226219" cy="226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44084" y="3708678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Efficient &amp; Structured System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244084" y="4012049"/>
            <a:ext cx="5887164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fully functional console application that automates registration end-to-end.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577" y="4350068"/>
            <a:ext cx="226219" cy="226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44084" y="4368998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Reduced Manual Effort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244084" y="4672370"/>
            <a:ext cx="5887164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core workflows — adding, enrolling, viewing — are handled programmatically.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577" y="5010388"/>
            <a:ext cx="226219" cy="22621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44084" y="5029319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OOP Demonstrated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244084" y="5332690"/>
            <a:ext cx="5887164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Abstraction, inheritance, polymorphism, encapsulation, and exception handling all applied in context.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0577" y="5817751"/>
            <a:ext cx="226219" cy="2262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44084" y="5836682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84796D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Easily Extensible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1244084" y="6140053"/>
            <a:ext cx="5887164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84796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design means new features slot in without rearchitecting the existing codebase.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7398187" y="3287197"/>
            <a:ext cx="6594396" cy="4344710"/>
          </a:xfrm>
          <a:prstGeom prst="roundRect">
            <a:avLst>
              <a:gd name="adj" fmla="val 210"/>
            </a:avLst>
          </a:prstGeom>
          <a:solidFill>
            <a:srgbClr val="614B3C"/>
          </a:solidFill>
          <a:ln/>
        </p:spPr>
      </p:sp>
      <p:sp>
        <p:nvSpPr>
          <p:cNvPr id="19" name="Text 12"/>
          <p:cNvSpPr/>
          <p:nvPr/>
        </p:nvSpPr>
        <p:spPr>
          <a:xfrm>
            <a:off x="7548920" y="3392091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Future Scope</a:t>
            </a:r>
            <a:endParaRPr lang="en-US" sz="15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8920" y="3708678"/>
            <a:ext cx="150733" cy="150733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548920" y="3911918"/>
            <a:ext cx="6292929" cy="1524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22" name="Text 14"/>
          <p:cNvSpPr/>
          <p:nvPr/>
        </p:nvSpPr>
        <p:spPr>
          <a:xfrm>
            <a:off x="7548920" y="4017764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GUI Layer</a:t>
            </a:r>
            <a:endParaRPr lang="en-US" sz="1550" dirty="0"/>
          </a:p>
        </p:txBody>
      </p:sp>
      <p:sp>
        <p:nvSpPr>
          <p:cNvPr id="23" name="Text 15"/>
          <p:cNvSpPr/>
          <p:nvPr/>
        </p:nvSpPr>
        <p:spPr>
          <a:xfrm>
            <a:off x="7548920" y="4321135"/>
            <a:ext cx="6292929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Migrate the console interface to </a:t>
            </a: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Swing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JavaFX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 visual, user-friendly experience.</a:t>
            </a:r>
            <a:endParaRPr lang="en-US" sz="11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8920" y="4686181"/>
            <a:ext cx="150733" cy="150733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7548920" y="4889421"/>
            <a:ext cx="6292929" cy="1524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26" name="Text 17"/>
          <p:cNvSpPr/>
          <p:nvPr/>
        </p:nvSpPr>
        <p:spPr>
          <a:xfrm>
            <a:off x="7548920" y="4995267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Database Integration</a:t>
            </a:r>
            <a:endParaRPr lang="en-US" sz="1550" dirty="0"/>
          </a:p>
        </p:txBody>
      </p:sp>
      <p:sp>
        <p:nvSpPr>
          <p:cNvPr id="27" name="Text 18"/>
          <p:cNvSpPr/>
          <p:nvPr/>
        </p:nvSpPr>
        <p:spPr>
          <a:xfrm>
            <a:off x="7548920" y="5298638"/>
            <a:ext cx="6292929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to </a:t>
            </a: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MySQL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via JDBC to persist records beyond runtime and support large-scale data.</a:t>
            </a:r>
            <a:endParaRPr lang="en-US" sz="11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8920" y="5663684"/>
            <a:ext cx="150733" cy="150733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7548920" y="5866924"/>
            <a:ext cx="6292929" cy="1524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30" name="Text 20"/>
          <p:cNvSpPr/>
          <p:nvPr/>
        </p:nvSpPr>
        <p:spPr>
          <a:xfrm>
            <a:off x="7548920" y="5972770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Web-Based System</a:t>
            </a:r>
            <a:endParaRPr lang="en-US" sz="1550" dirty="0"/>
          </a:p>
        </p:txBody>
      </p:sp>
      <p:sp>
        <p:nvSpPr>
          <p:cNvPr id="31" name="Text 21"/>
          <p:cNvSpPr/>
          <p:nvPr/>
        </p:nvSpPr>
        <p:spPr>
          <a:xfrm>
            <a:off x="7548920" y="6276142"/>
            <a:ext cx="6292929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functionality via a </a:t>
            </a:r>
            <a:r>
              <a:rPr lang="en-US" sz="11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Boot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 API with a browser-accessible front end.</a:t>
            </a:r>
            <a:endParaRPr lang="en-US" sz="115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920" y="6641187"/>
            <a:ext cx="150733" cy="150733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7548920" y="6844427"/>
            <a:ext cx="6292929" cy="15240"/>
          </a:xfrm>
          <a:prstGeom prst="rect">
            <a:avLst/>
          </a:prstGeom>
          <a:solidFill>
            <a:srgbClr val="614B3C"/>
          </a:solidFill>
          <a:ln/>
        </p:spPr>
      </p:sp>
      <p:sp>
        <p:nvSpPr>
          <p:cNvPr id="34" name="Text 23"/>
          <p:cNvSpPr/>
          <p:nvPr/>
        </p:nvSpPr>
        <p:spPr>
          <a:xfrm>
            <a:off x="7548920" y="6950273"/>
            <a:ext cx="1984534" cy="19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Multi-User Support</a:t>
            </a:r>
            <a:endParaRPr lang="en-US" sz="1550" dirty="0"/>
          </a:p>
        </p:txBody>
      </p:sp>
      <p:sp>
        <p:nvSpPr>
          <p:cNvPr id="35" name="Text 24"/>
          <p:cNvSpPr/>
          <p:nvPr/>
        </p:nvSpPr>
        <p:spPr>
          <a:xfrm>
            <a:off x="7548920" y="7253645"/>
            <a:ext cx="6292929" cy="147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authentication and role-based access for students, instructors, and administrators.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942</Words>
  <Application>Microsoft Office PowerPoint</Application>
  <PresentationFormat>Custom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Serif</vt:lpstr>
      <vt:lpstr>Arial</vt:lpstr>
      <vt:lpstr>Consolas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Sarbikchakraborty19@gmail.com</cp:lastModifiedBy>
  <cp:revision>3</cp:revision>
  <dcterms:created xsi:type="dcterms:W3CDTF">2026-03-29T16:02:07Z</dcterms:created>
  <dcterms:modified xsi:type="dcterms:W3CDTF">2026-03-29T16:08:45Z</dcterms:modified>
</cp:coreProperties>
</file>